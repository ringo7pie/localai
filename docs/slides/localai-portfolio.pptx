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Qwen3.8-27B（Q4_K_M）の VRAM（MiB）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VRAM（MiB）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32,768</c:v>
                  </c:pt>
                  <c:pt idx="1">
                    <c:v>65,536</c:v>
                  </c:pt>
                  <c:pt idx="2">
                    <c:v>81,920</c:v>
                  </c:pt>
                  <c:pt idx="3">
                    <c:v>131,072</c:v>
                  </c:pt>
                  <c:pt idx="4">
                    <c:v>262,144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19987</c:v>
                </c:pt>
                <c:pt idx="1">
                  <c:v>22201</c:v>
                </c:pt>
                <c:pt idx="2">
                  <c:v>22569</c:v>
                </c:pt>
                <c:pt idx="3">
                  <c:v>22533</c:v>
                </c:pt>
                <c:pt idx="4">
                  <c:v>22497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0"/>
          <c:min val="0"/>
        </c:scaling>
        <c:delete val="0"/>
        <c:axPos val="l"/>
        <c:majorGridlines>
          <c:spPr>
            <a:ln w="6350" cap="flat">
              <a:solidFill>
                <a:srgbClr val="DCDF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能力（%）</c:v>
                </c:pt>
              </c:strCache>
            </c:strRef>
          </c:tx>
          <c:spPr>
            <a:solidFill>
              <a:srgbClr val="2F5FA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5F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5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4F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4FA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Sonnet 5.5 xHigh</c:v>
                  </c:pt>
                  <c:pt idx="1">
                    <c:v>Opus 5.5 xHigh</c:v>
                  </c:pt>
                  <c:pt idx="2">
                    <c:v>gemma4:31b-it-qat</c:v>
                  </c:pt>
                  <c:pt idx="3">
                    <c:v>Strata 公式 IQ3_XXS</c:v>
                  </c:pt>
                  <c:pt idx="4">
                    <c:v>qwen3.8:27b</c:v>
                  </c:pt>
                  <c:pt idx="5">
                    <c:v>gemma4:31b-ctx32k</c:v>
                  </c:pt>
                  <c:pt idx="6">
                    <c:v>Strata Coder IQ1_M</c:v>
                  </c:pt>
                  <c:pt idx="7">
                    <c:v>qwen3.8-flash-next IQ4_XS</c:v>
                  </c:pt>
                  <c:pt idx="8">
                    <c:v>gemma4:e4b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100</c:v>
                </c:pt>
                <c:pt idx="2">
                  <c:v>92</c:v>
                </c:pt>
                <c:pt idx="3">
                  <c:v>84</c:v>
                </c:pt>
                <c:pt idx="4">
                  <c:v>83</c:v>
                </c:pt>
                <c:pt idx="5">
                  <c:v>79</c:v>
                </c:pt>
                <c:pt idx="6">
                  <c:v>59</c:v>
                </c:pt>
                <c:pt idx="7">
                  <c:v>57</c:v>
                </c:pt>
                <c:pt idx="8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C4・C5 の平均点（%）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基準（思考の上限 24,576）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Coder IQ1_M</c:v>
                  </c:pt>
                  <c:pt idx="1">
                    <c:v>公式 IQ3_XXS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上限なし</c:v>
                </c:pt>
              </c:strCache>
            </c:strRef>
          </c:tx>
          <c:spPr>
            <a:solidFill>
              <a:srgbClr val="B453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Coder IQ1_M</c:v>
                  </c:pt>
                  <c:pt idx="1">
                    <c:v>公式 IQ3_XXS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low・上限なし</c:v>
                </c:pt>
              </c:strCache>
            </c:strRef>
          </c:tx>
          <c:spPr>
            <a:solidFill>
              <a:srgbClr val="5B64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Coder IQ1_M</c:v>
                  </c:pt>
                  <c:pt idx="1">
                    <c:v>公式 IQ3_XXS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</c:v>
                </c:pt>
                <c:pt idx="1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CDF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localai の紹介。GPU 1 枚（NVIDIA A30 24 GB）で LLM・3D 生成・画像ワークフローを運用し、モデルを測り、クラウドの AI と連携する。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knowledge/10-silver/areas/env.md（VRAM 22,201 MiB）、knowledge/10-silver/resources/service-memory-limits.md（RAM の枯渇）、tools/model-eval（9 つの AI・16 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docs/architecture.md、tools/portal/portal.py の GPU_EXCLUSIVE_KEYS と OLLAMA_UNLOAD_BEFORE_START_KEYS。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knowledge/10-silver/resources/gpu-exclusive-switching.md（2026-09-27 実測）、CLAUDE.md（Conflicts= と After=）。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knowledge/10-silver/archive/setup-inference.md（nvidia-smi の実測。総量 24,576 MiB）。判定は ollama ps の PROCESSOR 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tools/model-eval/README.md。比べたのは Claude 2・Ollama 5・Strata 3 のうち、成績が低いとして外した 1 つを除く 9 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tools/model-eval/results/2026-10-08/summary.json（suites.coding.models の ability）。除外した 1 つは Strata 汎用版（RVN）。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Documents/Strata_コーディング性能の調査_2026-10-09.html（思考の強さ・思考の上限・問題文の言語を条件として振った。記録は tools/model-eval/results/2026-10-09-fix）。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knowledge/10-silver/areas/local-ai-tools.md。「round 1〜5 の実測で 委譲/単独（または Sonnet サブ）の比は 0.81〜1.15、0.88、2.85。50% 以下は未観測」。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NOTICE.md、tools/hunyuan3d/README.md（ライセンスの地域制限）、scripts/lib/render-unit.sh。試験の件数は ./localai test の結果（2026-10-13 時点で 1,090 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コードと文書と計測の記録はすべてリポジトリにある。ライセンスは MIT。上流とモデルの重みは再配布しない（NOTICE.md）。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localai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表紙の題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localai</a:t>
            </a:r>
            <a:endParaRPr lang="en-US" sz="6000" dirty="0"/>
          </a:p>
        </p:txBody>
      </p:sp>
      <p:sp>
        <p:nvSpPr>
          <p:cNvPr id="3" name="表紙の副題"/>
          <p:cNvSpPr txBox="1"/>
          <p:nvPr/>
        </p:nvSpPr>
        <p:spPr>
          <a:xfrm>
            <a:off x="640080" y="1920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24 GB の GPU 1 枚で、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ローカル AI の群れを運用し、測る</a:t>
            </a:r>
            <a:endParaRPr lang="en-US" sz="2400" dirty="0"/>
          </a:p>
        </p:txBody>
      </p:sp>
      <p:sp>
        <p:nvSpPr>
          <p:cNvPr id="4" name="表紙の帯 Ollama"/>
          <p:cNvSpPr txBox="1"/>
          <p:nvPr/>
        </p:nvSpPr>
        <p:spPr>
          <a:xfrm>
            <a:off x="640080" y="3246120"/>
            <a:ext cx="1499616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Ollama</a:t>
            </a:r>
            <a:endParaRPr lang="en-US" sz="1400" dirty="0"/>
          </a:p>
        </p:txBody>
      </p:sp>
      <p:sp>
        <p:nvSpPr>
          <p:cNvPr id="5" name="表紙の帯 Strata"/>
          <p:cNvSpPr txBox="1"/>
          <p:nvPr/>
        </p:nvSpPr>
        <p:spPr>
          <a:xfrm>
            <a:off x="2212848" y="3246120"/>
            <a:ext cx="1499616" cy="54864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635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Strata</a:t>
            </a:r>
            <a:endParaRPr lang="en-US" sz="1400" dirty="0"/>
          </a:p>
        </p:txBody>
      </p:sp>
      <p:sp>
        <p:nvSpPr>
          <p:cNvPr id="6" name="表紙の帯 Pixal3D"/>
          <p:cNvSpPr txBox="1"/>
          <p:nvPr/>
        </p:nvSpPr>
        <p:spPr>
          <a:xfrm>
            <a:off x="3785616" y="3246120"/>
            <a:ext cx="1499616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Pixal3D</a:t>
            </a:r>
            <a:endParaRPr lang="en-US" sz="1400" dirty="0"/>
          </a:p>
        </p:txBody>
      </p:sp>
      <p:sp>
        <p:nvSpPr>
          <p:cNvPr id="7" name="表紙の帯 Hunyuan3D"/>
          <p:cNvSpPr txBox="1"/>
          <p:nvPr/>
        </p:nvSpPr>
        <p:spPr>
          <a:xfrm>
            <a:off x="5358384" y="3246120"/>
            <a:ext cx="1499616" cy="54864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Hunyuan3D</a:t>
            </a:r>
            <a:endParaRPr lang="en-US" sz="1400" dirty="0"/>
          </a:p>
        </p:txBody>
      </p:sp>
      <p:sp>
        <p:nvSpPr>
          <p:cNvPr id="8" name="表紙の帯 ComfyUI"/>
          <p:cNvSpPr txBox="1"/>
          <p:nvPr/>
        </p:nvSpPr>
        <p:spPr>
          <a:xfrm>
            <a:off x="6931152" y="3246120"/>
            <a:ext cx="1499616" cy="54864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ComfyUI</a:t>
            </a:r>
            <a:endParaRPr lang="en-US" sz="1400" dirty="0"/>
          </a:p>
        </p:txBody>
      </p:sp>
      <p:sp>
        <p:nvSpPr>
          <p:cNvPr id="9" name="表紙の説明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資源の排他・モデルの測定・クラウドとの連携を設計した、個人プロジェクト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解いた 4 つの問題</a:t>
            </a:r>
            <a:endParaRPr lang="en-US" sz="3000" dirty="0"/>
          </a:p>
        </p:txBody>
      </p:sp>
      <p:sp>
        <p:nvSpPr>
          <p:cNvPr id="3" name="問題 1 の枠"/>
          <p:cNvSpPr/>
          <p:nvPr/>
        </p:nvSpPr>
        <p:spPr>
          <a:xfrm>
            <a:off x="457200" y="123444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問題 1 の番号"/>
          <p:cNvSpPr txBox="1"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問題 1 の見出し"/>
          <p:cNvSpPr txBox="1"/>
          <p:nvPr/>
        </p:nvSpPr>
        <p:spPr>
          <a:xfrm>
            <a:off x="14630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枚の GPU を取り合う</a:t>
            </a:r>
            <a:endParaRPr lang="en-US" sz="1600" dirty="0"/>
          </a:p>
        </p:txBody>
      </p:sp>
      <p:sp>
        <p:nvSpPr>
          <p:cNvPr id="6" name="問題 1 の説明"/>
          <p:cNvSpPr txBox="1"/>
          <p:nvPr/>
        </p:nvSpPr>
        <p:spPr>
          <a:xfrm>
            <a:off x="1463040" y="1920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Qwen 27B だけで VRAM 22 GiB。ほかのサービスは同時に載らない</a:t>
            </a:r>
            <a:endParaRPr lang="en-US" sz="1400" dirty="0"/>
          </a:p>
        </p:txBody>
      </p:sp>
      <p:sp>
        <p:nvSpPr>
          <p:cNvPr id="7" name="問題 2 の枠"/>
          <p:cNvSpPr/>
          <p:nvPr/>
        </p:nvSpPr>
        <p:spPr>
          <a:xfrm>
            <a:off x="4709160" y="123444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問題 2 の番号"/>
          <p:cNvSpPr txBox="1"/>
          <p:nvPr/>
        </p:nvSpPr>
        <p:spPr>
          <a:xfrm>
            <a:off x="493776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問題 2 の見出し"/>
          <p:cNvSpPr txBox="1"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RAM が尽きると落ちる</a:t>
            </a:r>
            <a:endParaRPr lang="en-US" sz="1600" dirty="0"/>
          </a:p>
        </p:txBody>
      </p:sp>
      <p:sp>
        <p:nvSpPr>
          <p:cNvPr id="10" name="問題 2 の説明"/>
          <p:cNvSpPr txBox="1"/>
          <p:nvPr/>
        </p:nvSpPr>
        <p:spPr>
          <a:xfrm>
            <a:off x="5715000" y="1920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低 VRAM モードが RAM を使い切り、デスクトップごと停止した</a:t>
            </a:r>
            <a:endParaRPr lang="en-US" sz="1400" dirty="0"/>
          </a:p>
        </p:txBody>
      </p:sp>
      <p:sp>
        <p:nvSpPr>
          <p:cNvPr id="11" name="問題 3 の枠"/>
          <p:cNvSpPr/>
          <p:nvPr/>
        </p:nvSpPr>
        <p:spPr>
          <a:xfrm>
            <a:off x="457200" y="301752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問題 3 の番号"/>
          <p:cNvSpPr txBox="1"/>
          <p:nvPr/>
        </p:nvSpPr>
        <p:spPr>
          <a:xfrm>
            <a:off x="685800" y="3291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問題 3 の見出し"/>
          <p:cNvSpPr txBox="1"/>
          <p:nvPr/>
        </p:nvSpPr>
        <p:spPr>
          <a:xfrm>
            <a:off x="14630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感覚でなく、測る</a:t>
            </a:r>
            <a:endParaRPr lang="en-US" sz="1600" dirty="0"/>
          </a:p>
        </p:txBody>
      </p:sp>
      <p:sp>
        <p:nvSpPr>
          <p:cNvPr id="14" name="問題 3 の説明"/>
          <p:cNvSpPr txBox="1"/>
          <p:nvPr/>
        </p:nvSpPr>
        <p:spPr>
          <a:xfrm>
            <a:off x="1463040" y="37033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つの AI を、同じ 16 問・同じ採点で比べる</a:t>
            </a:r>
            <a:endParaRPr lang="en-US" sz="1400" dirty="0"/>
          </a:p>
        </p:txBody>
      </p:sp>
      <p:sp>
        <p:nvSpPr>
          <p:cNvPr id="15" name="問題 4 の枠"/>
          <p:cNvSpPr/>
          <p:nvPr/>
        </p:nvSpPr>
        <p:spPr>
          <a:xfrm>
            <a:off x="4709160" y="3017520"/>
            <a:ext cx="3977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問題 4 の番号"/>
          <p:cNvSpPr txBox="1"/>
          <p:nvPr/>
        </p:nvSpPr>
        <p:spPr>
          <a:xfrm>
            <a:off x="4937760" y="3291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問題 4 の見出し"/>
          <p:cNvSpPr txBox="1"/>
          <p:nvPr/>
        </p:nvSpPr>
        <p:spPr>
          <a:xfrm>
            <a:off x="57150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クラウドから回す</a:t>
            </a:r>
            <a:endParaRPr lang="en-US" sz="1600" dirty="0"/>
          </a:p>
        </p:txBody>
      </p:sp>
      <p:sp>
        <p:nvSpPr>
          <p:cNvPr id="18" name="問題 4 の説明"/>
          <p:cNvSpPr txBox="1"/>
          <p:nvPr/>
        </p:nvSpPr>
        <p:spPr>
          <a:xfrm>
            <a:off x="5715000" y="37033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機械的な実装の反復だけを、ローカルの Qwen へ渡す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全体の構成</a:t>
            </a:r>
            <a:endParaRPr lang="en-US" sz="3000" dirty="0"/>
          </a:p>
        </p:txBody>
      </p:sp>
      <p:sp>
        <p:nvSpPr>
          <p:cNvPr id="3" name="利用側 Claude Code"/>
          <p:cNvSpPr txBox="1"/>
          <p:nvPr/>
        </p:nvSpPr>
        <p:spPr>
          <a:xfrm>
            <a:off x="457200" y="1097280"/>
            <a:ext cx="2011680" cy="64008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Claude Code / Codex</a:t>
            </a:r>
            <a:endParaRPr lang="en-US" sz="1300" dirty="0"/>
          </a:p>
        </p:txBody>
      </p:sp>
      <p:sp>
        <p:nvSpPr>
          <p:cNvPr id="4" name="連携層"/>
          <p:cNvSpPr txBox="1"/>
          <p:nvPr/>
        </p:nvSpPr>
        <p:spPr>
          <a:xfrm>
            <a:off x="3017520" y="1097280"/>
            <a:ext cx="2286000" cy="64008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local-ai-bridge / qwen-worker（MCP）</a:t>
            </a:r>
            <a:endParaRPr lang="en-US" sz="1200" dirty="0"/>
          </a:p>
        </p:txBody>
      </p:sp>
      <p:sp>
        <p:nvSpPr>
          <p:cNvPr id="5" name="矢印 Claude から連携層"/>
          <p:cNvSpPr/>
          <p:nvPr/>
        </p:nvSpPr>
        <p:spPr>
          <a:xfrm>
            <a:off x="2468880" y="1417320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利用側 ブラウザ"/>
          <p:cNvSpPr txBox="1"/>
          <p:nvPr/>
        </p:nvSpPr>
        <p:spPr>
          <a:xfrm>
            <a:off x="457200" y="2377440"/>
            <a:ext cx="2011680" cy="64008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ブラウザ</a:t>
            </a:r>
            <a:endParaRPr lang="en-US" sz="1300" dirty="0"/>
          </a:p>
        </p:txBody>
      </p:sp>
      <p:sp>
        <p:nvSpPr>
          <p:cNvPr id="7" name="入口ページ"/>
          <p:cNvSpPr txBox="1"/>
          <p:nvPr/>
        </p:nvSpPr>
        <p:spPr>
          <a:xfrm>
            <a:off x="3017520" y="2377440"/>
            <a:ext cx="228600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入口ページ portal :8080</a:t>
            </a:r>
            <a:endParaRPr lang="en-US" sz="1300" dirty="0"/>
          </a:p>
        </p:txBody>
      </p:sp>
      <p:sp>
        <p:nvSpPr>
          <p:cNvPr id="8" name="矢印 ブラウザから入口ページ"/>
          <p:cNvSpPr/>
          <p:nvPr/>
        </p:nvSpPr>
        <p:spPr>
          <a:xfrm>
            <a:off x="2468880" y="2697480"/>
            <a:ext cx="5486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サービス 1"/>
          <p:cNvSpPr txBox="1"/>
          <p:nvPr/>
        </p:nvSpPr>
        <p:spPr>
          <a:xfrm>
            <a:off x="5943600" y="1097280"/>
            <a:ext cx="2743200" cy="420624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Ollama :11434（Qwen3.8-27B）</a:t>
            </a:r>
            <a:endParaRPr lang="en-US" sz="1200" dirty="0"/>
          </a:p>
        </p:txBody>
      </p:sp>
      <p:sp>
        <p:nvSpPr>
          <p:cNvPr id="10" name="サービス 2"/>
          <p:cNvSpPr txBox="1"/>
          <p:nvPr/>
        </p:nvSpPr>
        <p:spPr>
          <a:xfrm>
            <a:off x="5943600" y="1591056"/>
            <a:ext cx="2743200" cy="420624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 w="635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Strata :8082〜8084（MoE 推論）</a:t>
            </a:r>
            <a:endParaRPr lang="en-US" sz="1200" dirty="0"/>
          </a:p>
        </p:txBody>
      </p:sp>
      <p:sp>
        <p:nvSpPr>
          <p:cNvPr id="11" name="サービス 3"/>
          <p:cNvSpPr txBox="1"/>
          <p:nvPr/>
        </p:nvSpPr>
        <p:spPr>
          <a:xfrm>
            <a:off x="5943600" y="2084832"/>
            <a:ext cx="2743200" cy="420624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 w="635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Pixal3D :7861</a:t>
            </a:r>
            <a:endParaRPr lang="en-US" sz="1200" dirty="0"/>
          </a:p>
        </p:txBody>
      </p:sp>
      <p:sp>
        <p:nvSpPr>
          <p:cNvPr id="12" name="サービス 4"/>
          <p:cNvSpPr txBox="1"/>
          <p:nvPr/>
        </p:nvSpPr>
        <p:spPr>
          <a:xfrm>
            <a:off x="5943600" y="2578608"/>
            <a:ext cx="2743200" cy="420624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 w="635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Hunyuan3D :7860</a:t>
            </a:r>
            <a:endParaRPr lang="en-US" sz="1200" dirty="0"/>
          </a:p>
        </p:txBody>
      </p:sp>
      <p:sp>
        <p:nvSpPr>
          <p:cNvPr id="13" name="サービス 5"/>
          <p:cNvSpPr txBox="1"/>
          <p:nvPr/>
        </p:nvSpPr>
        <p:spPr>
          <a:xfrm>
            <a:off x="5943600" y="3072384"/>
            <a:ext cx="2743200" cy="420624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 w="6350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ComfyUI :8188</a:t>
            </a:r>
            <a:endParaRPr lang="en-US" sz="1200" dirty="0"/>
          </a:p>
        </p:txBody>
      </p:sp>
      <p:sp>
        <p:nvSpPr>
          <p:cNvPr id="14" name="矢印 連携層から Ollama"/>
          <p:cNvSpPr/>
          <p:nvPr/>
        </p:nvSpPr>
        <p:spPr>
          <a:xfrm>
            <a:off x="5303520" y="1417320"/>
            <a:ext cx="6400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括弧の縦線"/>
          <p:cNvSpPr/>
          <p:nvPr/>
        </p:nvSpPr>
        <p:spPr>
          <a:xfrm>
            <a:off x="5715000" y="1828800"/>
            <a:ext cx="0" cy="148132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6" name="矢印 入口ページから括弧"/>
          <p:cNvSpPr/>
          <p:nvPr/>
        </p:nvSpPr>
        <p:spPr>
          <a:xfrm>
            <a:off x="5303520" y="269748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矢印 括弧からサービス 2"/>
          <p:cNvSpPr/>
          <p:nvPr/>
        </p:nvSpPr>
        <p:spPr>
          <a:xfrm>
            <a:off x="5715000" y="1828800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矢印 括弧からサービス 3"/>
          <p:cNvSpPr/>
          <p:nvPr/>
        </p:nvSpPr>
        <p:spPr>
          <a:xfrm>
            <a:off x="5715000" y="2322576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矢印 括弧からサービス 4"/>
          <p:cNvSpPr/>
          <p:nvPr/>
        </p:nvSpPr>
        <p:spPr>
          <a:xfrm>
            <a:off x="5715000" y="2816352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矢印 括弧からサービス 5"/>
          <p:cNvSpPr/>
          <p:nvPr/>
        </p:nvSpPr>
        <p:spPr>
          <a:xfrm>
            <a:off x="5715000" y="331012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構成の注記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入口ページは、起動の前に他の GPU サービスを止め、Strata の前には Ollama のモデルも降ろす</a:t>
            </a:r>
            <a:endParaRPr lang="en-US" sz="1200" dirty="0"/>
          </a:p>
        </p:txBody>
      </p:sp>
      <p:sp>
        <p:nvSpPr>
          <p:cNvPr id="22" name="GPU 帯"/>
          <p:cNvSpPr txBox="1"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4213D"/>
          </a:solidFill>
          <a:ln w="6350">
            <a:solidFill>
              <a:srgbClr val="14213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NVIDIA A30 24 GB（1 枚）— 同時に載せられる GPU サービスは 1 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GPU の排他は 2 層で守る</a:t>
            </a:r>
            <a:endParaRPr lang="en-US" sz="3000" dirty="0"/>
          </a:p>
        </p:txBody>
      </p:sp>
      <p:sp>
        <p:nvSpPr>
          <p:cNvPr id="3" name="層 1 の枠"/>
          <p:cNvSpPr/>
          <p:nvPr/>
        </p:nvSpPr>
        <p:spPr>
          <a:xfrm>
            <a:off x="457200" y="1188720"/>
            <a:ext cx="39776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層 1 の見出し"/>
          <p:cNvSpPr txBox="1"/>
          <p:nvPr/>
        </p:nvSpPr>
        <p:spPr>
          <a:xfrm>
            <a:off x="685800" y="1325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入口ページ（portal）</a:t>
            </a:r>
            <a:endParaRPr lang="en-US" sz="1600" dirty="0"/>
          </a:p>
        </p:txBody>
      </p:sp>
      <p:sp>
        <p:nvSpPr>
          <p:cNvPr id="5" name="層 1 の本文"/>
          <p:cNvSpPr txBox="1"/>
          <p:nvPr/>
        </p:nvSpPr>
        <p:spPr>
          <a:xfrm>
            <a:off x="685800" y="178308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起動の前に、動いている他の GPU サービスを止める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Strata の起動前に Ollama のモデルを降ろす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停止に失敗したら、起動しない</a:t>
            </a:r>
            <a:endParaRPr lang="en-US" sz="1400" dirty="0"/>
          </a:p>
        </p:txBody>
      </p:sp>
      <p:sp>
        <p:nvSpPr>
          <p:cNvPr id="6" name="層 2 の枠"/>
          <p:cNvSpPr/>
          <p:nvPr/>
        </p:nvSpPr>
        <p:spPr>
          <a:xfrm>
            <a:off x="4709160" y="1188720"/>
            <a:ext cx="39776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層 2 の見出し"/>
          <p:cNvSpPr txBox="1"/>
          <p:nvPr/>
        </p:nvSpPr>
        <p:spPr>
          <a:xfrm>
            <a:off x="4937760" y="1325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systemd（Conflicts=）</a:t>
            </a:r>
            <a:endParaRPr lang="en-US" sz="1600" dirty="0"/>
          </a:p>
        </p:txBody>
      </p:sp>
      <p:sp>
        <p:nvSpPr>
          <p:cNvPr id="8" name="層 2 の本文"/>
          <p:cNvSpPr txBox="1"/>
          <p:nvPr/>
        </p:nvSpPr>
        <p:spPr>
          <a:xfrm>
            <a:off x="4937760" y="178308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Strata 3 種は互いを止める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After= は片側だけに書く（両側は順序が輪になる）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systemctl を直に叩く操作も守る</a:t>
            </a:r>
            <a:endParaRPr lang="en-US" sz="1400" dirty="0"/>
          </a:p>
        </p:txBody>
      </p:sp>
      <p:sp>
        <p:nvSpPr>
          <p:cNvPr id="9" name="起動時間の数字 冷"/>
          <p:cNvSpPr txBox="1"/>
          <p:nvPr/>
        </p:nvSpPr>
        <p:spPr>
          <a:xfrm>
            <a:off x="45720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250 秒</a:t>
            </a:r>
            <a:endParaRPr lang="en-US" sz="4000" dirty="0"/>
          </a:p>
        </p:txBody>
      </p:sp>
      <p:sp>
        <p:nvSpPr>
          <p:cNvPr id="10" name="起動時間の説明 冷"/>
          <p:cNvSpPr txBox="1"/>
          <p:nvPr/>
        </p:nvSpPr>
        <p:spPr>
          <a:xfrm>
            <a:off x="45720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冷えた状態での起動（Pixal3D）</a:t>
            </a:r>
            <a:endParaRPr lang="en-US" sz="1200" dirty="0"/>
          </a:p>
        </p:txBody>
      </p:sp>
      <p:sp>
        <p:nvSpPr>
          <p:cNvPr id="11" name="起動時間の数字 温"/>
          <p:cNvSpPr txBox="1"/>
          <p:nvPr/>
        </p:nvSpPr>
        <p:spPr>
          <a:xfrm>
            <a:off x="310896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約 80 秒</a:t>
            </a:r>
            <a:endParaRPr lang="en-US" sz="4000" dirty="0"/>
          </a:p>
        </p:txBody>
      </p:sp>
      <p:sp>
        <p:nvSpPr>
          <p:cNvPr id="12" name="起動時間の説明 温"/>
          <p:cNvSpPr txBox="1"/>
          <p:nvPr/>
        </p:nvSpPr>
        <p:spPr>
          <a:xfrm>
            <a:off x="310896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キャッシュが温まっている状態</a:t>
            </a:r>
            <a:endParaRPr lang="en-US" sz="1200" dirty="0"/>
          </a:p>
        </p:txBody>
      </p:sp>
      <p:sp>
        <p:nvSpPr>
          <p:cNvPr id="13" name="起動の判定"/>
          <p:cNvSpPr txBox="1"/>
          <p:nvPr/>
        </p:nvSpPr>
        <p:spPr>
          <a:xfrm>
            <a:off x="5669280" y="3520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起動の完了は「ポートが開いたか」で判定する。systemd が active でも、モデルの読み込み中はポートが閉じている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コンテキスト長の上限は 65,536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上限の数字"/>
          <p:cNvSpPr txBox="1"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65,536</a:t>
            </a:r>
            <a:endParaRPr lang="en-US" sz="4000" dirty="0"/>
          </a:p>
        </p:txBody>
      </p:sp>
      <p:sp>
        <p:nvSpPr>
          <p:cNvPr id="5" name="上限の説明"/>
          <p:cNvSpPr txBox="1"/>
          <p:nvPr/>
        </p:nvSpPr>
        <p:spPr>
          <a:xfrm>
            <a:off x="6126480" y="20574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100% GPU で載る最大のコンテキスト長。VRAM 22,201 MiB・生成 23〜26 tok/s</a:t>
            </a:r>
            <a:endParaRPr lang="en-US" sz="1400" dirty="0"/>
          </a:p>
        </p:txBody>
      </p:sp>
      <p:sp>
        <p:nvSpPr>
          <p:cNvPr id="6" name="超過の説明"/>
          <p:cNvSpPr txBox="1"/>
          <p:nvPr/>
        </p:nvSpPr>
        <p:spPr>
          <a:xfrm>
            <a:off x="6126480" y="31089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超えると KV キャッシュが CPU へ溢れる（81,920 で CPU 9% / GPU 91%）。VRAM に余裕があるように見えても、載せるのをやめている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測る道具（評価ハーネス）</a:t>
            </a:r>
            <a:endParaRPr lang="en-US" sz="3000" dirty="0"/>
          </a:p>
        </p:txBody>
      </p:sp>
      <p:sp>
        <p:nvSpPr>
          <p:cNvPr id="3" name="工程 1 の枠"/>
          <p:cNvSpPr/>
          <p:nvPr/>
        </p:nvSpPr>
        <p:spPr>
          <a:xfrm>
            <a:off x="457200" y="1234440"/>
            <a:ext cx="1463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工程 1 の見出し"/>
          <p:cNvSpPr txBox="1"/>
          <p:nvPr/>
        </p:nvSpPr>
        <p:spPr>
          <a:xfrm>
            <a:off x="566928" y="13258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出題</a:t>
            </a:r>
            <a:endParaRPr lang="en-US" sz="1600" dirty="0"/>
          </a:p>
        </p:txBody>
      </p:sp>
      <p:sp>
        <p:nvSpPr>
          <p:cNvPr id="5" name="工程 1 の説明"/>
          <p:cNvSpPr txBox="1"/>
          <p:nvPr/>
        </p:nvSpPr>
        <p:spPr>
          <a:xfrm>
            <a:off x="566928" y="17373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種・16 問</a:t>
            </a:r>
            <a:endParaRPr lang="en-US" sz="1200" dirty="0"/>
          </a:p>
        </p:txBody>
      </p:sp>
      <p:sp>
        <p:nvSpPr>
          <p:cNvPr id="6" name="工程 1 の矢印"/>
          <p:cNvSpPr/>
          <p:nvPr/>
        </p:nvSpPr>
        <p:spPr>
          <a:xfrm>
            <a:off x="1920240" y="189280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工程 2 の枠"/>
          <p:cNvSpPr/>
          <p:nvPr/>
        </p:nvSpPr>
        <p:spPr>
          <a:xfrm>
            <a:off x="2148840" y="1234440"/>
            <a:ext cx="1463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工程 2 の見出し"/>
          <p:cNvSpPr txBox="1"/>
          <p:nvPr/>
        </p:nvSpPr>
        <p:spPr>
          <a:xfrm>
            <a:off x="2258568" y="13258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実行</a:t>
            </a:r>
            <a:endParaRPr lang="en-US" sz="1600" dirty="0"/>
          </a:p>
        </p:txBody>
      </p:sp>
      <p:sp>
        <p:nvSpPr>
          <p:cNvPr id="9" name="工程 2 の説明"/>
          <p:cNvSpPr txBox="1"/>
          <p:nvPr/>
        </p:nvSpPr>
        <p:spPr>
          <a:xfrm>
            <a:off x="2258568" y="17373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 つの AI</a:t>
            </a:r>
            <a:endParaRPr lang="en-US" sz="1200" dirty="0"/>
          </a:p>
        </p:txBody>
      </p:sp>
      <p:sp>
        <p:nvSpPr>
          <p:cNvPr id="10" name="工程 2 の矢印"/>
          <p:cNvSpPr/>
          <p:nvPr/>
        </p:nvSpPr>
        <p:spPr>
          <a:xfrm>
            <a:off x="3611880" y="189280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工程 3 の枠"/>
          <p:cNvSpPr/>
          <p:nvPr/>
        </p:nvSpPr>
        <p:spPr>
          <a:xfrm>
            <a:off x="3840480" y="1234440"/>
            <a:ext cx="1463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工程 3 の見出し"/>
          <p:cNvSpPr txBox="1"/>
          <p:nvPr/>
        </p:nvSpPr>
        <p:spPr>
          <a:xfrm>
            <a:off x="3950208" y="13258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採点</a:t>
            </a:r>
            <a:endParaRPr lang="en-US" sz="1600" dirty="0"/>
          </a:p>
        </p:txBody>
      </p:sp>
      <p:sp>
        <p:nvSpPr>
          <p:cNvPr id="13" name="工程 3 の説明"/>
          <p:cNvSpPr txBox="1"/>
          <p:nvPr/>
        </p:nvSpPr>
        <p:spPr>
          <a:xfrm>
            <a:off x="3950208" y="17373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隠しテストを sandbox で実行</a:t>
            </a:r>
            <a:endParaRPr lang="en-US" sz="1200" dirty="0"/>
          </a:p>
        </p:txBody>
      </p:sp>
      <p:sp>
        <p:nvSpPr>
          <p:cNvPr id="14" name="工程 3 の矢印"/>
          <p:cNvSpPr/>
          <p:nvPr/>
        </p:nvSpPr>
        <p:spPr>
          <a:xfrm>
            <a:off x="5303520" y="189280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工程 4 の枠"/>
          <p:cNvSpPr/>
          <p:nvPr/>
        </p:nvSpPr>
        <p:spPr>
          <a:xfrm>
            <a:off x="5532120" y="1234440"/>
            <a:ext cx="1463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工程 4 の見出し"/>
          <p:cNvSpPr txBox="1"/>
          <p:nvPr/>
        </p:nvSpPr>
        <p:spPr>
          <a:xfrm>
            <a:off x="5641848" y="13258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記録</a:t>
            </a:r>
            <a:endParaRPr lang="en-US" sz="1600" dirty="0"/>
          </a:p>
        </p:txBody>
      </p:sp>
      <p:sp>
        <p:nvSpPr>
          <p:cNvPr id="17" name="工程 4 の説明"/>
          <p:cNvSpPr txBox="1"/>
          <p:nvPr/>
        </p:nvSpPr>
        <p:spPr>
          <a:xfrm>
            <a:off x="5641848" y="17373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JSON を全件保存</a:t>
            </a:r>
            <a:endParaRPr lang="en-US" sz="1200" dirty="0"/>
          </a:p>
        </p:txBody>
      </p:sp>
      <p:sp>
        <p:nvSpPr>
          <p:cNvPr id="18" name="工程 4 の矢印"/>
          <p:cNvSpPr/>
          <p:nvPr/>
        </p:nvSpPr>
        <p:spPr>
          <a:xfrm>
            <a:off x="6995160" y="1892808"/>
            <a:ext cx="2286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工程 5 の枠"/>
          <p:cNvSpPr/>
          <p:nvPr/>
        </p:nvSpPr>
        <p:spPr>
          <a:xfrm>
            <a:off x="7223760" y="1234440"/>
            <a:ext cx="1463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工程 5 の見出し"/>
          <p:cNvSpPr txBox="1"/>
          <p:nvPr/>
        </p:nvSpPr>
        <p:spPr>
          <a:xfrm>
            <a:off x="7333488" y="13258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レポート</a:t>
            </a:r>
            <a:endParaRPr lang="en-US" sz="1600" dirty="0"/>
          </a:p>
        </p:txBody>
      </p:sp>
      <p:sp>
        <p:nvSpPr>
          <p:cNvPr id="21" name="工程 5 の説明"/>
          <p:cNvSpPr txBox="1"/>
          <p:nvPr/>
        </p:nvSpPr>
        <p:spPr>
          <a:xfrm>
            <a:off x="7333488" y="1737360"/>
            <a:ext cx="1243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HTML を生成</a:t>
            </a:r>
            <a:endParaRPr lang="en-US" sz="1200" dirty="0"/>
          </a:p>
        </p:txBody>
      </p:sp>
      <p:sp>
        <p:nvSpPr>
          <p:cNvPr id="22" name="要点 1 の枠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要点 1 の見出し"/>
          <p:cNvSpPr txBox="1"/>
          <p:nvPr/>
        </p:nvSpPr>
        <p:spPr>
          <a:xfrm>
            <a:off x="64008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標準ライブラリだけ</a:t>
            </a:r>
            <a:endParaRPr lang="en-US" sz="1600" dirty="0"/>
          </a:p>
        </p:txBody>
      </p:sp>
      <p:sp>
        <p:nvSpPr>
          <p:cNvPr id="24" name="要点 1 の説明"/>
          <p:cNvSpPr txBox="1"/>
          <p:nvPr/>
        </p:nvSpPr>
        <p:spPr>
          <a:xfrm>
            <a:off x="64008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venv を作らず、どの機体でも同じに動く</a:t>
            </a:r>
            <a:endParaRPr lang="en-US" sz="1400" dirty="0"/>
          </a:p>
        </p:txBody>
      </p:sp>
      <p:sp>
        <p:nvSpPr>
          <p:cNvPr id="25" name="要点 2 の枠"/>
          <p:cNvSpPr/>
          <p:nvPr/>
        </p:nvSpPr>
        <p:spPr>
          <a:xfrm>
            <a:off x="329184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要点 2 の見出し"/>
          <p:cNvSpPr txBox="1"/>
          <p:nvPr/>
        </p:nvSpPr>
        <p:spPr>
          <a:xfrm>
            <a:off x="347472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原文と照合する</a:t>
            </a:r>
            <a:endParaRPr lang="en-US" sz="1600" dirty="0"/>
          </a:p>
        </p:txBody>
      </p:sp>
      <p:sp>
        <p:nvSpPr>
          <p:cNvPr id="27" name="要点 2 の説明"/>
          <p:cNvSpPr txBox="1"/>
          <p:nvPr/>
        </p:nvSpPr>
        <p:spPr>
          <a:xfrm>
            <a:off x="347472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解説書の本文は問題の原文と照合し、食い違えば止まる</a:t>
            </a:r>
            <a:endParaRPr lang="en-US" sz="1400" dirty="0"/>
          </a:p>
        </p:txBody>
      </p:sp>
      <p:sp>
        <p:nvSpPr>
          <p:cNvPr id="28" name="要点 3 の枠"/>
          <p:cNvSpPr/>
          <p:nvPr/>
        </p:nvSpPr>
        <p:spPr>
          <a:xfrm>
            <a:off x="612648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要点 3 の見出し"/>
          <p:cNvSpPr txBox="1"/>
          <p:nvPr/>
        </p:nvSpPr>
        <p:spPr>
          <a:xfrm>
            <a:off x="630936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生成物にする</a:t>
            </a:r>
            <a:endParaRPr lang="en-US" sz="1600" dirty="0"/>
          </a:p>
        </p:txBody>
      </p:sp>
      <p:sp>
        <p:nvSpPr>
          <p:cNvPr id="30" name="要点 3 の説明"/>
          <p:cNvSpPr txBox="1"/>
          <p:nvPr/>
        </p:nvSpPr>
        <p:spPr>
          <a:xfrm>
            <a:off x="630936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レポートは記録から生成し、手で書き換えない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コーディング 6 問の結果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結果の見出し"/>
          <p:cNvSpPr txBox="1"/>
          <p:nvPr/>
        </p:nvSpPr>
        <p:spPr>
          <a:xfrm>
            <a:off x="64008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Claude は全問合格</a:t>
            </a:r>
            <a:endParaRPr lang="en-US" sz="1800" dirty="0"/>
          </a:p>
        </p:txBody>
      </p:sp>
      <p:sp>
        <p:nvSpPr>
          <p:cNvPr id="5" name="結果の説明"/>
          <p:cNvSpPr txBox="1"/>
          <p:nvPr/>
        </p:nvSpPr>
        <p:spPr>
          <a:xfrm>
            <a:off x="6400800" y="1783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能力では差がつかない（天井効果）。測れた差は速さだけ</a:t>
            </a:r>
            <a:endParaRPr lang="en-US" sz="1400" dirty="0"/>
          </a:p>
        </p:txBody>
      </p:sp>
      <p:sp>
        <p:nvSpPr>
          <p:cNvPr id="6" name="結果の注意"/>
          <p:cNvSpPr txBox="1"/>
          <p:nvPr/>
        </p:nvSpPr>
        <p:spPr>
          <a:xfrm>
            <a:off x="6400800" y="2926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試行は問ごとに 1 回。サンプリングありなので、小さな差は誤差の範囲</a:t>
            </a:r>
            <a:endParaRPr lang="en-US" sz="1300" dirty="0"/>
          </a:p>
        </p:txBody>
      </p:sp>
      <p:sp>
        <p:nvSpPr>
          <p:cNvPr id="7" name="凡例"/>
          <p:cNvSpPr txBox="1"/>
          <p:nvPr/>
        </p:nvSpPr>
        <p:spPr>
          <a:xfrm>
            <a:off x="6400800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色: 青 = Claude ・ 緑 = Ollama ・ 紫 = Strata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疑った設定が、点を支えていた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調査の要点"/>
          <p:cNvSpPr txBox="1"/>
          <p:nvPr/>
        </p:nvSpPr>
        <p:spPr>
          <a:xfrm>
            <a:off x="5943600" y="123444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上限を外すと、公式版は 6 回とも答えが出なかった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49 本のうち 45 本で、思考が上限に届いて打ち切られていた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設定の誤りは見つからず、低い点は強い量子化で思考を終えられないことによる（意見）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委譲しても、費用は減らなかった</a:t>
            </a:r>
            <a:endParaRPr lang="en-US" sz="3000" dirty="0"/>
          </a:p>
        </p:txBody>
      </p:sp>
      <p:sp>
        <p:nvSpPr>
          <p:cNvPr id="3" name="比 1 の枠"/>
          <p:cNvSpPr/>
          <p:nvPr/>
        </p:nvSpPr>
        <p:spPr>
          <a:xfrm>
            <a:off x="457200" y="118872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比 1 の数字"/>
          <p:cNvSpPr txBox="1"/>
          <p:nvPr/>
        </p:nvSpPr>
        <p:spPr>
          <a:xfrm>
            <a:off x="594360" y="1325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0.81〜1.15</a:t>
            </a:r>
            <a:endParaRPr lang="en-US" sz="3600" dirty="0"/>
          </a:p>
        </p:txBody>
      </p:sp>
      <p:sp>
        <p:nvSpPr>
          <p:cNvPr id="5" name="比 1 の説明"/>
          <p:cNvSpPr txBox="1"/>
          <p:nvPr/>
        </p:nvSpPr>
        <p:spPr>
          <a:xfrm>
            <a:off x="59436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費用の比（委譲 ÷ 単独）</a:t>
            </a:r>
            <a:endParaRPr lang="en-US" sz="1200" dirty="0"/>
          </a:p>
        </p:txBody>
      </p:sp>
      <p:sp>
        <p:nvSpPr>
          <p:cNvPr id="6" name="比 2 の枠"/>
          <p:cNvSpPr/>
          <p:nvPr/>
        </p:nvSpPr>
        <p:spPr>
          <a:xfrm>
            <a:off x="3291840" y="118872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比 2 の数字"/>
          <p:cNvSpPr txBox="1"/>
          <p:nvPr/>
        </p:nvSpPr>
        <p:spPr>
          <a:xfrm>
            <a:off x="3429000" y="1325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0.88</a:t>
            </a:r>
            <a:endParaRPr lang="en-US" sz="3600" dirty="0"/>
          </a:p>
        </p:txBody>
      </p:sp>
      <p:sp>
        <p:nvSpPr>
          <p:cNvPr id="8" name="比 2 の説明"/>
          <p:cNvSpPr txBox="1"/>
          <p:nvPr/>
        </p:nvSpPr>
        <p:spPr>
          <a:xfrm>
            <a:off x="342900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費用の比（委譲 ÷ 単独）</a:t>
            </a:r>
            <a:endParaRPr lang="en-US" sz="1200" dirty="0"/>
          </a:p>
        </p:txBody>
      </p:sp>
      <p:sp>
        <p:nvSpPr>
          <p:cNvPr id="9" name="比 3 の枠"/>
          <p:cNvSpPr/>
          <p:nvPr/>
        </p:nvSpPr>
        <p:spPr>
          <a:xfrm>
            <a:off x="6126480" y="118872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比 3 の数字"/>
          <p:cNvSpPr txBox="1"/>
          <p:nvPr/>
        </p:nvSpPr>
        <p:spPr>
          <a:xfrm>
            <a:off x="6263640" y="13258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2.85</a:t>
            </a:r>
            <a:endParaRPr lang="en-US" sz="3600" dirty="0"/>
          </a:p>
        </p:txBody>
      </p:sp>
      <p:sp>
        <p:nvSpPr>
          <p:cNvPr id="11" name="比 3 の説明"/>
          <p:cNvSpPr txBox="1"/>
          <p:nvPr/>
        </p:nvSpPr>
        <p:spPr>
          <a:xfrm>
            <a:off x="626364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費用の比（委譲 ÷ 単独）</a:t>
            </a:r>
            <a:endParaRPr lang="en-US" sz="1200" dirty="0"/>
          </a:p>
        </p:txBody>
      </p:sp>
      <p:sp>
        <p:nvSpPr>
          <p:cNvPr id="12" name="費用の事実"/>
          <p:cNvSpPr txBox="1"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回の実測（単独は Sonnet サブエージェントの場合を含む）で、50% 以下は観測しなかった。費用はほぼ「親のターン数 × 文脈長」で、委譲は親のターンを減らせない</a:t>
            </a:r>
            <a:endParaRPr lang="en-US" sz="1400" dirty="0"/>
          </a:p>
        </p:txBody>
      </p:sp>
      <p:sp>
        <p:nvSpPr>
          <p:cNvPr id="13" name="役割の見出し"/>
          <p:cNvSpPr txBox="1"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だから、役割を絞った</a:t>
            </a:r>
            <a:endParaRPr lang="en-US" sz="1600" dirty="0"/>
          </a:p>
        </p:txBody>
      </p:sp>
      <p:sp>
        <p:nvSpPr>
          <p:cNvPr id="14" name="役割の一覧 1"/>
          <p:cNvSpPr txBox="1"/>
          <p:nvPr/>
        </p:nvSpPr>
        <p:spPr>
          <a:xfrm>
            <a:off x="457200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夜間のバッチ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別のモデルによるレビュー</a:t>
            </a:r>
            <a:endParaRPr lang="en-US" sz="1400" dirty="0"/>
          </a:p>
        </p:txBody>
      </p:sp>
      <p:sp>
        <p:nvSpPr>
          <p:cNvPr id="15" name="役割の一覧 2"/>
          <p:cNvSpPr txBox="1"/>
          <p:nvPr/>
        </p:nvSpPr>
        <p:spPr>
          <a:xfrm>
            <a:off x="4572000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ローカルに閉じた作業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ほかの PC からの利用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公開できるものを見極める</a:t>
            </a:r>
            <a:endParaRPr lang="en-US" sz="3000" dirty="0"/>
          </a:p>
        </p:txBody>
      </p:sp>
      <p:sp>
        <p:nvSpPr>
          <p:cNvPr id="3" name="列 1 の枠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列 1 の見出し"/>
          <p:cNvSpPr txBox="1"/>
          <p:nvPr/>
        </p:nvSpPr>
        <p:spPr>
          <a:xfrm>
            <a:off x="64008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取り込まない</a:t>
            </a:r>
            <a:endParaRPr lang="en-US" sz="1600" dirty="0"/>
          </a:p>
        </p:txBody>
      </p:sp>
      <p:sp>
        <p:nvSpPr>
          <p:cNvPr id="5" name="列 1 の本文"/>
          <p:cNvSpPr txBox="1"/>
          <p:nvPr/>
        </p:nvSpPr>
        <p:spPr>
          <a:xfrm>
            <a:off x="64008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上流はコミット固定で取得する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モデルの重みは再配布しない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各ライセンスを NOTICE に一覧</a:t>
            </a:r>
            <a:endParaRPr lang="en-US" sz="1400" dirty="0"/>
          </a:p>
        </p:txBody>
      </p:sp>
      <p:sp>
        <p:nvSpPr>
          <p:cNvPr id="6" name="列 2 の枠"/>
          <p:cNvSpPr/>
          <p:nvPr/>
        </p:nvSpPr>
        <p:spPr>
          <a:xfrm>
            <a:off x="329184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列 2 の見出し"/>
          <p:cNvSpPr txBox="1"/>
          <p:nvPr/>
        </p:nvSpPr>
        <p:spPr>
          <a:xfrm>
            <a:off x="347472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公開しない</a:t>
            </a:r>
            <a:endParaRPr lang="en-US" sz="1600" dirty="0"/>
          </a:p>
        </p:txBody>
      </p:sp>
      <p:sp>
        <p:nvSpPr>
          <p:cNvPr id="8" name="列 2 の本文"/>
          <p:cNvSpPr txBox="1"/>
          <p:nvPr/>
        </p:nvSpPr>
        <p:spPr>
          <a:xfrm>
            <a:off x="347472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Hunyuan3D のパッチ（許諾が EU・UK・韓国を対象外とする）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出所の不明な入力画像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保存した第三者のページ</a:t>
            </a:r>
            <a:endParaRPr lang="en-US" sz="1400" dirty="0"/>
          </a:p>
        </p:txBody>
      </p:sp>
      <p:sp>
        <p:nvSpPr>
          <p:cNvPr id="9" name="列 3 の枠"/>
          <p:cNvSpPr/>
          <p:nvPr/>
        </p:nvSpPr>
        <p:spPr>
          <a:xfrm>
            <a:off x="612648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列 3 の見出し"/>
          <p:cNvSpPr txBox="1"/>
          <p:nvPr/>
        </p:nvSpPr>
        <p:spPr>
          <a:xfrm>
            <a:off x="630936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再現できる</a:t>
            </a:r>
            <a:endParaRPr lang="en-US" sz="1600" dirty="0"/>
          </a:p>
        </p:txBody>
      </p:sp>
      <p:sp>
        <p:nvSpPr>
          <p:cNvPr id="11" name="列 3 の本文"/>
          <p:cNvSpPr txBox="1"/>
          <p:nvPr/>
        </p:nvSpPr>
        <p:spPr>
          <a:xfrm>
            <a:off x="630936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非対話・冪等・sudo なしの導入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clone 先に依らない systemd 雛形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GPU 不要の試験 1,000 件超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学んだことと、次にやること</a:t>
            </a:r>
            <a:endParaRPr lang="en-US" sz="3000" dirty="0"/>
          </a:p>
        </p:txBody>
      </p:sp>
      <p:sp>
        <p:nvSpPr>
          <p:cNvPr id="3" name="学んだこと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学んだこと</a:t>
            </a:r>
            <a:endParaRPr lang="en-US" sz="1600" dirty="0"/>
          </a:p>
        </p:txBody>
      </p:sp>
      <p:sp>
        <p:nvSpPr>
          <p:cNvPr id="4" name="学んだことの一覧"/>
          <p:cNvSpPr txBox="1"/>
          <p:nvPr/>
        </p:nvSpPr>
        <p:spPr>
          <a:xfrm>
            <a:off x="457200" y="1691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取り合いは「誰が止める責任を持つか」を 1 か所に決める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数字の前に、条件のそろい方を疑う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測った値と意見を分けて書く</a:t>
            </a:r>
            <a:endParaRPr lang="en-US" sz="1400" dirty="0"/>
          </a:p>
        </p:txBody>
      </p:sp>
      <p:sp>
        <p:nvSpPr>
          <p:cNvPr id="5" name="次にやること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次にやること</a:t>
            </a:r>
            <a:endParaRPr lang="en-US" sz="1600" dirty="0"/>
          </a:p>
        </p:txBody>
      </p:sp>
      <p:sp>
        <p:nvSpPr>
          <p:cNvPr id="6" name="次にやることの一覧"/>
          <p:cNvSpPr txBox="1"/>
          <p:nvPr/>
        </p:nvSpPr>
        <p:spPr>
          <a:xfrm>
            <a:off x="4754880" y="16916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評価の試行回数を増やす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A30 以外の GPU での導入確認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入口ページの認証</a:t>
            </a:r>
            <a:endParaRPr lang="en-US" sz="1400" dirty="0"/>
          </a:p>
        </p:txBody>
      </p:sp>
      <p:sp>
        <p:nvSpPr>
          <p:cNvPr id="7" name="リポジトリの URL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github.com/ringo7pie/localai</a:t>
            </a:r>
            <a:endParaRPr lang="en-US" sz="1800" dirty="0"/>
          </a:p>
        </p:txBody>
      </p:sp>
      <p:sp>
        <p:nvSpPr>
          <p:cNvPr id="8" name="Pages の URL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評価レポート: https://ringo7pie.github.io/localai/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alai">
  <a:themeElements>
    <a:clrScheme name="localai">
      <a:dk1>
        <a:srgbClr val="1B1F24"/>
      </a:dk1>
      <a:lt1>
        <a:srgbClr val="FFFFFF"/>
      </a:lt1>
      <a:dk2>
        <a:srgbClr val="14213D"/>
      </a:dk2>
      <a:lt2>
        <a:srgbClr val="EEF1F5"/>
      </a:lt2>
      <a:accent1>
        <a:srgbClr val="0F766E"/>
      </a:accent1>
      <a:accent2>
        <a:srgbClr val="F2A93B"/>
      </a:accent2>
      <a:accent3>
        <a:srgbClr val="2F5FA8"/>
      </a:accent3>
      <a:accent4>
        <a:srgbClr val="B4533C"/>
      </a:accent4>
      <a:accent5>
        <a:srgbClr val="6B4FA3"/>
      </a:accent5>
      <a:accent6>
        <a:srgbClr val="5B6470"/>
      </a:accent6>
      <a:hlink>
        <a:srgbClr val="0F766E"/>
      </a:hlink>
      <a:folHlink>
        <a:srgbClr val="6B4FA3"/>
      </a:folHlink>
    </a:clrScheme>
    <a:fontScheme name="localai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localai — 24 GB の GPU 1 枚で、ローカル AI の群れを運用し、測る</dc:title>
  <dc:subject>ローカル AI の運用・評価・連携</dc:subject>
  <dc:creator>ringo7pie</dc:creator>
  <cp:lastModifiedBy>ringo7pie</cp:lastModifiedBy>
  <cp:revision>1</cp:revision>
  <dcterms:created xsi:type="dcterms:W3CDTF">2026-10-13T03:54:47Z</dcterms:created>
  <dcterms:modified xsi:type="dcterms:W3CDTF">2026-10-13T03:54:47Z</dcterms:modified>
</cp:coreProperties>
</file>